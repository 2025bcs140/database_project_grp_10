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sldIdLst>
    <p:sldId id="256" r:id="rId2"/>
    <p:sldId id="257" r:id="rId3"/>
    <p:sldId id="259" r:id="rId4"/>
    <p:sldId id="260" r:id="rId5"/>
    <p:sldId id="262" r:id="rId6"/>
    <p:sldId id="270" r:id="rId7"/>
    <p:sldId id="271" r:id="rId8"/>
    <p:sldId id="272" r:id="rId9"/>
    <p:sldId id="263" r:id="rId10"/>
    <p:sldId id="274" r:id="rId11"/>
    <p:sldId id="267" r:id="rId12"/>
    <p:sldId id="26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33" d="100"/>
          <a:sy n="33" d="100"/>
        </p:scale>
        <p:origin x="1122" y="48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13793" units="1/cm"/>
          <inkml:channelProperty channel="T" name="resolution" value="1" units="1/dev"/>
        </inkml:channelProperties>
      </inkml:inkSource>
      <inkml:timestamp xml:id="ts0" timeString="2026-05-06T13:42:21.369"/>
    </inkml:context>
    <inkml:brush xml:id="br0">
      <inkml:brushProperty name="width" value="0.05292" units="cm"/>
      <inkml:brushProperty name="height" value="0.05292" units="cm"/>
      <inkml:brushProperty name="color" value="#FFFFFF"/>
    </inkml:brush>
  </inkml:definitions>
  <inkml:trace contextRef="#ctx0" brushRef="#br0">10390 8482 0,'-278'70'144,"208"-35"-143,35-35 43,35 35 97,0-1-140,0 36 29,35-1-29,-35-34 30,0 0-31,35-35 46,0 0 49,34 0-94,-34 0 44,-35 35-44,69-35 29,-34 0-29,0 34 45,0-34 63,-35 70 17,-35-70-126,-35 35 62,36-35-61,-1 0 30,-69 0-31,69 0 31,0 0-31,-34 0 93,34 0-92,-34 0 30,34 0 15,35-35-45,-35 0 30</inkml:trace>
  <inkml:trace contextRef="#ctx0" brushRef="#br0" timeOffset="4528">10737 8517 0,'0'70'240,"0"-1"-240,0-34 46,0 69 111,0-69-156,0 0 29,0 0 1,0-1 47,0 140-46,0-104-32,0-35 31,0-1-30,35-34 29,0 0 111,-1 0-110,1 0-30,0 0 45,0-69-46,-1 69 31,1 0-30,0 0 29,-35-35-29,35 35 30,34 0-31,-34 0 46,34 0-45</inkml:trace>
  <inkml:trace contextRef="#ctx0" brushRef="#br0" timeOffset="7320">10772 8552 0,'69'0'276,"-34"0"-274,35 0 27,-36 0-28,71 0 29,-71 0-29,1 0 0,-35-35 138,104 35-45,-34 0-94</inkml:trace>
  <inkml:trace contextRef="#ctx0" brushRef="#br0" timeOffset="9487">10841 8865 0</inkml:trace>
  <inkml:trace contextRef="#ctx0" brushRef="#br0" timeOffset="9643">10841 8865 0</inkml:trace>
  <inkml:trace contextRef="#ctx0" brushRef="#br0" timeOffset="11219">11919 8934 0</inkml:trace>
  <inkml:trace contextRef="#ctx0" brushRef="#br0" timeOffset="17016">12926 9734 0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1608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6693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6933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5790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2530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8528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5022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9117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14267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8713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748346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28981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48443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1316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9174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15622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08653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98705116"/>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Patient Database System</a:t>
            </a:r>
          </a:p>
        </p:txBody>
      </p:sp>
      <p:sp>
        <p:nvSpPr>
          <p:cNvPr id="3" name="Content Placeholder 2"/>
          <p:cNvSpPr>
            <a:spLocks noGrp="1"/>
          </p:cNvSpPr>
          <p:nvPr>
            <p:ph idx="1"/>
          </p:nvPr>
        </p:nvSpPr>
        <p:spPr/>
        <p:txBody>
          <a:bodyPr/>
          <a:lstStyle/>
          <a:p>
            <a:r>
              <a:rPr dirty="0"/>
              <a:t>Database Management Systems Project</a:t>
            </a:r>
          </a:p>
          <a:p>
            <a:r>
              <a:rPr dirty="0"/>
              <a:t>Hospital Setting</a:t>
            </a:r>
          </a:p>
          <a:p>
            <a:pPr marL="36900" indent="0">
              <a:buNone/>
            </a:pPr>
            <a:r>
              <a:rPr lang="en-US" dirty="0"/>
              <a:t>GROUP 10</a:t>
            </a:r>
          </a:p>
          <a:p>
            <a:pPr marL="36900" indent="0">
              <a:buNone/>
            </a:pPr>
            <a:r>
              <a:rPr lang="en-US" dirty="0"/>
              <a:t>NAMANYA DAVID MUGIZI    2025/BCS/140/PS</a:t>
            </a:r>
            <a:endParaRPr dirty="0"/>
          </a:p>
        </p:txBody>
      </p:sp>
    </p:spTree>
  </p:cSld>
  <p:clrMapOvr>
    <a:masterClrMapping/>
  </p:clrMapOvr>
  <mc:AlternateContent xmlns:mc="http://schemas.openxmlformats.org/markup-compatibility/2006">
    <mc:Choice xmlns:p14="http://schemas.microsoft.com/office/powerpoint/2010/main" Requires="p14">
      <p:transition spd="slow" p14:dur="2000" advTm="6590"/>
    </mc:Choice>
    <mc:Fallback>
      <p:transition spd="slow" advTm="659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a:bodyPr>
          <a:lstStyle/>
          <a:p>
            <a:pPr marL="36900" indent="0">
              <a:buNone/>
            </a:pPr>
            <a:r>
              <a:rPr lang="en-US" dirty="0">
                <a:effectLst/>
              </a:rPr>
              <a:t>The area of interest selected for this project is the Healthcare and Hospital Management sector. Hospitals generate and rely on large volumes of data daily, ranging from patient demographics and clinical notes to lab results and billing records.</a:t>
            </a:r>
            <a:endParaRPr lang="en-US" dirty="0"/>
          </a:p>
          <a:p>
            <a:pPr marL="36900" indent="0">
              <a:buNone/>
            </a:pPr>
            <a:endParaRPr lang="en-US" dirty="0"/>
          </a:p>
          <a:p>
            <a:pPr marL="36900" indent="0">
              <a:buNone/>
            </a:pPr>
            <a:r>
              <a:rPr lang="en-US" dirty="0"/>
              <a:t>A </a:t>
            </a:r>
            <a:r>
              <a:rPr lang="en-US" b="1" dirty="0"/>
              <a:t>Patient Database System</a:t>
            </a:r>
            <a:r>
              <a:rPr lang="en-US" dirty="0"/>
              <a:t> provides a centralized digital platform for storing, managing, and retrieving patient information efficiently. It enhances decision-making, reduces redundancy, and improves overall hospital operations.</a:t>
            </a:r>
            <a:endParaRPr dirty="0"/>
          </a:p>
        </p:txBody>
      </p:sp>
    </p:spTree>
  </p:cSld>
  <p:clrMapOvr>
    <a:masterClrMapping/>
  </p:clrMapOvr>
  <mc:AlternateContent xmlns:mc="http://schemas.openxmlformats.org/markup-compatibility/2006">
    <mc:Choice xmlns:p14="http://schemas.microsoft.com/office/powerpoint/2010/main" Requires="p14">
      <p:transition spd="slow" p14:dur="2000" advTm="1800"/>
    </mc:Choice>
    <mc:Fallback>
      <p:transition spd="slow" advTm="18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D530884-2A21-25E9-A06B-081CE0F36B0D}"/>
              </a:ext>
            </a:extLst>
          </p:cNvPr>
          <p:cNvSpPr>
            <a:spLocks noGrp="1"/>
          </p:cNvSpPr>
          <p:nvPr>
            <p:ph type="body" idx="1"/>
          </p:nvPr>
        </p:nvSpPr>
        <p:spPr/>
        <p:txBody>
          <a:bodyPr/>
          <a:lstStyle/>
          <a:p>
            <a:r>
              <a:rPr lang="en-US" b="1" dirty="0"/>
              <a:t>objectives</a:t>
            </a:r>
          </a:p>
        </p:txBody>
      </p:sp>
      <p:sp>
        <p:nvSpPr>
          <p:cNvPr id="3" name="Content Placeholder 2"/>
          <p:cNvSpPr>
            <a:spLocks noGrp="1"/>
          </p:cNvSpPr>
          <p:nvPr>
            <p:ph sz="half" idx="2"/>
          </p:nvPr>
        </p:nvSpPr>
        <p:spPr/>
        <p:txBody>
          <a:bodyPr>
            <a:normAutofit lnSpcReduction="10000"/>
          </a:bodyPr>
          <a:lstStyle/>
          <a:p>
            <a:r>
              <a:rPr dirty="0"/>
              <a:t>Store patient data</a:t>
            </a:r>
          </a:p>
          <a:p>
            <a:r>
              <a:rPr dirty="0"/>
              <a:t>Manage appointments</a:t>
            </a:r>
          </a:p>
          <a:p>
            <a:r>
              <a:rPr dirty="0"/>
              <a:t>Track treatments</a:t>
            </a:r>
          </a:p>
          <a:p>
            <a:r>
              <a:rPr dirty="0"/>
              <a:t>Ensure data integrity</a:t>
            </a:r>
          </a:p>
        </p:txBody>
      </p:sp>
      <p:sp>
        <p:nvSpPr>
          <p:cNvPr id="6" name="Text Placeholder 5">
            <a:extLst>
              <a:ext uri="{FF2B5EF4-FFF2-40B4-BE49-F238E27FC236}">
                <a16:creationId xmlns:a16="http://schemas.microsoft.com/office/drawing/2014/main" id="{7E4CDB32-46CC-88DA-FF8C-546BB6DF60AF}"/>
              </a:ext>
            </a:extLst>
          </p:cNvPr>
          <p:cNvSpPr>
            <a:spLocks noGrp="1"/>
          </p:cNvSpPr>
          <p:nvPr>
            <p:ph type="body" sz="quarter" idx="3"/>
          </p:nvPr>
        </p:nvSpPr>
        <p:spPr/>
        <p:txBody>
          <a:bodyPr/>
          <a:lstStyle/>
          <a:p>
            <a:r>
              <a:rPr lang="en-US" b="1" dirty="0"/>
              <a:t>Problem statement</a:t>
            </a:r>
          </a:p>
        </p:txBody>
      </p:sp>
      <p:sp>
        <p:nvSpPr>
          <p:cNvPr id="7" name="Content Placeholder 6">
            <a:extLst>
              <a:ext uri="{FF2B5EF4-FFF2-40B4-BE49-F238E27FC236}">
                <a16:creationId xmlns:a16="http://schemas.microsoft.com/office/drawing/2014/main" id="{E2D9576C-43BF-6291-5258-A5EB3FED8916}"/>
              </a:ext>
            </a:extLst>
          </p:cNvPr>
          <p:cNvSpPr>
            <a:spLocks noGrp="1"/>
          </p:cNvSpPr>
          <p:nvPr>
            <p:ph sz="quarter" idx="4"/>
          </p:nvPr>
        </p:nvSpPr>
        <p:spPr/>
        <p:txBody>
          <a:bodyPr>
            <a:normAutofit lnSpcReduction="10000"/>
          </a:bodyPr>
          <a:lstStyle/>
          <a:p>
            <a:pPr marL="36900" indent="0">
              <a:buNone/>
            </a:pPr>
            <a:r>
              <a:rPr lang="en-US" dirty="0"/>
              <a:t>The following are the problems the system is set to solve;</a:t>
            </a:r>
          </a:p>
          <a:p>
            <a:r>
              <a:rPr lang="en-US" dirty="0"/>
              <a:t>Data transparency</a:t>
            </a:r>
          </a:p>
          <a:p>
            <a:r>
              <a:rPr lang="en-US" dirty="0"/>
              <a:t>Slow retrieval</a:t>
            </a:r>
          </a:p>
          <a:p>
            <a:r>
              <a:rPr lang="en-US" dirty="0"/>
              <a:t>Duplicate data</a:t>
            </a:r>
          </a:p>
          <a:p>
            <a:r>
              <a:rPr lang="en-US" dirty="0"/>
              <a:t>Poor management</a:t>
            </a:r>
          </a:p>
          <a:p>
            <a:r>
              <a:rPr lang="en-US" dirty="0"/>
              <a:t>Data security </a:t>
            </a:r>
          </a:p>
        </p:txBody>
      </p:sp>
    </p:spTree>
  </p:cSld>
  <p:clrMapOvr>
    <a:masterClrMapping/>
  </p:clrMapOvr>
  <mc:AlternateContent xmlns:mc="http://schemas.openxmlformats.org/markup-compatibility/2006">
    <mc:Choice xmlns:p14="http://schemas.microsoft.com/office/powerpoint/2010/main" Requires="p14">
      <p:transition spd="slow" p14:dur="2000" advTm="2075"/>
    </mc:Choice>
    <mc:Fallback>
      <p:transition spd="slow" advTm="207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5FD73E4-5916-1979-2A5B-3C00D1D9498B}"/>
              </a:ext>
            </a:extLst>
          </p:cNvPr>
          <p:cNvSpPr>
            <a:spLocks noGrp="1"/>
          </p:cNvSpPr>
          <p:nvPr>
            <p:ph type="body" idx="1"/>
          </p:nvPr>
        </p:nvSpPr>
        <p:spPr/>
        <p:txBody>
          <a:bodyPr/>
          <a:lstStyle/>
          <a:p>
            <a:r>
              <a:rPr lang="en-US" dirty="0"/>
              <a:t>System Overview</a:t>
            </a:r>
          </a:p>
        </p:txBody>
      </p:sp>
      <p:sp>
        <p:nvSpPr>
          <p:cNvPr id="3" name="Content Placeholder 2"/>
          <p:cNvSpPr>
            <a:spLocks noGrp="1"/>
          </p:cNvSpPr>
          <p:nvPr>
            <p:ph sz="half" idx="2"/>
          </p:nvPr>
        </p:nvSpPr>
        <p:spPr/>
        <p:txBody>
          <a:bodyPr/>
          <a:lstStyle/>
          <a:p>
            <a:r>
              <a:rPr dirty="0"/>
              <a:t>Register patients</a:t>
            </a:r>
          </a:p>
          <a:p>
            <a:r>
              <a:rPr dirty="0"/>
              <a:t>Store medical records</a:t>
            </a:r>
          </a:p>
          <a:p>
            <a:r>
              <a:rPr dirty="0"/>
              <a:t>Schedule appointments</a:t>
            </a:r>
          </a:p>
          <a:p>
            <a:r>
              <a:rPr dirty="0"/>
              <a:t>Track diagnoses</a:t>
            </a:r>
          </a:p>
        </p:txBody>
      </p:sp>
      <p:sp>
        <p:nvSpPr>
          <p:cNvPr id="5" name="Text Placeholder 4">
            <a:extLst>
              <a:ext uri="{FF2B5EF4-FFF2-40B4-BE49-F238E27FC236}">
                <a16:creationId xmlns:a16="http://schemas.microsoft.com/office/drawing/2014/main" id="{E40C02EE-E197-DC29-127F-98FA775EEAD5}"/>
              </a:ext>
            </a:extLst>
          </p:cNvPr>
          <p:cNvSpPr>
            <a:spLocks noGrp="1"/>
          </p:cNvSpPr>
          <p:nvPr>
            <p:ph type="body" sz="quarter" idx="3"/>
          </p:nvPr>
        </p:nvSpPr>
        <p:spPr/>
        <p:txBody>
          <a:bodyPr/>
          <a:lstStyle/>
          <a:p>
            <a:r>
              <a:rPr lang="en-US" dirty="0"/>
              <a:t>users</a:t>
            </a:r>
          </a:p>
        </p:txBody>
      </p:sp>
      <p:sp>
        <p:nvSpPr>
          <p:cNvPr id="6" name="Content Placeholder 5">
            <a:extLst>
              <a:ext uri="{FF2B5EF4-FFF2-40B4-BE49-F238E27FC236}">
                <a16:creationId xmlns:a16="http://schemas.microsoft.com/office/drawing/2014/main" id="{BD8393BB-410F-BA16-B4FD-63FB88812BCA}"/>
              </a:ext>
            </a:extLst>
          </p:cNvPr>
          <p:cNvSpPr>
            <a:spLocks noGrp="1"/>
          </p:cNvSpPr>
          <p:nvPr>
            <p:ph sz="quarter" idx="4"/>
          </p:nvPr>
        </p:nvSpPr>
        <p:spPr/>
        <p:txBody>
          <a:bodyPr/>
          <a:lstStyle/>
          <a:p>
            <a:r>
              <a:rPr lang="en-US" dirty="0"/>
              <a:t>Doctors</a:t>
            </a:r>
          </a:p>
          <a:p>
            <a:r>
              <a:rPr lang="en-US" dirty="0"/>
              <a:t>Receptionists</a:t>
            </a:r>
          </a:p>
          <a:p>
            <a:r>
              <a:rPr lang="en-US" dirty="0"/>
              <a:t>Administrators</a:t>
            </a: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1543"/>
    </mc:Choice>
    <mc:Fallback>
      <p:transition spd="slow" advTm="154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F7B063A-A587-8A1D-EA9A-79956E2C8913}"/>
              </a:ext>
            </a:extLst>
          </p:cNvPr>
          <p:cNvPicPr>
            <a:picLocks noGrp="1" noChangeAspect="1"/>
          </p:cNvPicPr>
          <p:nvPr>
            <p:ph idx="1"/>
          </p:nvPr>
        </p:nvPicPr>
        <p:blipFill>
          <a:blip r:embed="rId2"/>
          <a:stretch>
            <a:fillRect/>
          </a:stretch>
        </p:blipFill>
        <p:spPr>
          <a:xfrm>
            <a:off x="1268361" y="2168014"/>
            <a:ext cx="6607277" cy="4114800"/>
          </a:xfrm>
          <a:prstGeom prst="rect">
            <a:avLst/>
          </a:prstGeom>
        </p:spPr>
      </p:pic>
      <p:sp>
        <p:nvSpPr>
          <p:cNvPr id="7" name="Title 6">
            <a:extLst>
              <a:ext uri="{FF2B5EF4-FFF2-40B4-BE49-F238E27FC236}">
                <a16:creationId xmlns:a16="http://schemas.microsoft.com/office/drawing/2014/main" id="{28283856-0D1A-56DE-54EE-D28F372D3644}"/>
              </a:ext>
            </a:extLst>
          </p:cNvPr>
          <p:cNvSpPr>
            <a:spLocks noGrp="1"/>
          </p:cNvSpPr>
          <p:nvPr>
            <p:ph type="title"/>
          </p:nvPr>
        </p:nvSpPr>
        <p:spPr/>
        <p:txBody>
          <a:bodyPr/>
          <a:lstStyle/>
          <a:p>
            <a:r>
              <a:rPr lang="en-US" dirty="0"/>
              <a:t>Work flow</a:t>
            </a:r>
          </a:p>
        </p:txBody>
      </p:sp>
    </p:spTree>
  </p:cSld>
  <p:clrMapOvr>
    <a:masterClrMapping/>
  </p:clrMapOvr>
  <mc:AlternateContent xmlns:mc="http://schemas.openxmlformats.org/markup-compatibility/2006">
    <mc:Choice xmlns:p14="http://schemas.microsoft.com/office/powerpoint/2010/main" Requires="p14">
      <p:transition spd="slow" p14:dur="2000" advTm="1826"/>
    </mc:Choice>
    <mc:Fallback>
      <p:transition spd="slow" advTm="182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AE53707-F557-7368-81D0-57CCC262929A}"/>
              </a:ext>
            </a:extLst>
          </p:cNvPr>
          <p:cNvPicPr>
            <a:picLocks noGrp="1" noChangeAspect="1"/>
          </p:cNvPicPr>
          <p:nvPr>
            <p:ph idx="1"/>
          </p:nvPr>
        </p:nvPicPr>
        <p:blipFill>
          <a:blip r:embed="rId2"/>
          <a:stretch>
            <a:fillRect/>
          </a:stretch>
        </p:blipFill>
        <p:spPr>
          <a:xfrm>
            <a:off x="0" y="0"/>
            <a:ext cx="9144000" cy="6858000"/>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E9A1B5B-A065-38D1-A161-D0AFF4A13D6C}"/>
                  </a:ext>
                </a:extLst>
              </p14:cNvPr>
              <p14:cNvContentPartPr/>
              <p14:nvPr/>
            </p14:nvContentPartPr>
            <p14:xfrm>
              <a:off x="3527640" y="3053520"/>
              <a:ext cx="1126080" cy="451080"/>
            </p14:xfrm>
          </p:contentPart>
        </mc:Choice>
        <mc:Fallback>
          <p:pic>
            <p:nvPicPr>
              <p:cNvPr id="2" name="Ink 1">
                <a:extLst>
                  <a:ext uri="{FF2B5EF4-FFF2-40B4-BE49-F238E27FC236}">
                    <a16:creationId xmlns:a16="http://schemas.microsoft.com/office/drawing/2014/main" id="{CE9A1B5B-A065-38D1-A161-D0AFF4A13D6C}"/>
                  </a:ext>
                </a:extLst>
              </p:cNvPr>
              <p:cNvPicPr/>
              <p:nvPr/>
            </p:nvPicPr>
            <p:blipFill>
              <a:blip r:embed="rId4"/>
              <a:stretch>
                <a:fillRect/>
              </a:stretch>
            </p:blipFill>
            <p:spPr>
              <a:xfrm>
                <a:off x="3518280" y="3044160"/>
                <a:ext cx="1144800" cy="469800"/>
              </a:xfrm>
              <a:prstGeom prst="rect">
                <a:avLst/>
              </a:prstGeom>
            </p:spPr>
          </p:pic>
        </mc:Fallback>
      </mc:AlternateContent>
    </p:spTree>
    <p:extLst>
      <p:ext uri="{BB962C8B-B14F-4D97-AF65-F5344CB8AC3E}">
        <p14:creationId xmlns:p14="http://schemas.microsoft.com/office/powerpoint/2010/main" val="2514888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B9FBF73-3460-01FE-7F1C-AADBA6801006}"/>
              </a:ext>
            </a:extLst>
          </p:cNvPr>
          <p:cNvPicPr>
            <a:picLocks noGrp="1" noChangeAspect="1"/>
          </p:cNvPicPr>
          <p:nvPr>
            <p:ph idx="1"/>
          </p:nvPr>
        </p:nvPicPr>
        <p:blipFill>
          <a:blip r:embed="rId2"/>
          <a:stretch>
            <a:fillRect/>
          </a:stretch>
        </p:blipFill>
        <p:spPr>
          <a:xfrm>
            <a:off x="132735" y="0"/>
            <a:ext cx="8849033" cy="6695768"/>
          </a:xfrm>
          <a:prstGeom prst="rect">
            <a:avLst/>
          </a:prstGeom>
        </p:spPr>
      </p:pic>
    </p:spTree>
    <p:extLst>
      <p:ext uri="{BB962C8B-B14F-4D97-AF65-F5344CB8AC3E}">
        <p14:creationId xmlns:p14="http://schemas.microsoft.com/office/powerpoint/2010/main" val="178087424"/>
      </p:ext>
    </p:extLst>
  </p:cSld>
  <p:clrMapOvr>
    <a:masterClrMapping/>
  </p:clrMapOvr>
  <mc:AlternateContent xmlns:mc="http://schemas.openxmlformats.org/markup-compatibility/2006">
    <mc:Choice xmlns:p14="http://schemas.microsoft.com/office/powerpoint/2010/main" Requires="p14">
      <p:transition spd="slow" p14:dur="2000" advTm="1872"/>
    </mc:Choice>
    <mc:Fallback>
      <p:transition spd="slow" advTm="187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1033166-C8F7-F0C7-6623-DF36903C7604}"/>
              </a:ext>
            </a:extLst>
          </p:cNvPr>
          <p:cNvPicPr>
            <a:picLocks noGrp="1" noChangeAspect="1"/>
          </p:cNvPicPr>
          <p:nvPr>
            <p:ph idx="1"/>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595882708"/>
      </p:ext>
    </p:extLst>
  </p:cSld>
  <p:clrMapOvr>
    <a:masterClrMapping/>
  </p:clrMapOvr>
  <mc:AlternateContent xmlns:mc="http://schemas.openxmlformats.org/markup-compatibility/2006">
    <mc:Choice xmlns:p14="http://schemas.microsoft.com/office/powerpoint/2010/main" Requires="p14">
      <p:transition spd="slow" p14:dur="2000" advTm="1620"/>
    </mc:Choice>
    <mc:Fallback>
      <p:transition spd="slow" advTm="162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B006ED-2A50-DA5A-2999-4A7C1ABA6784}"/>
              </a:ext>
            </a:extLst>
          </p:cNvPr>
          <p:cNvPicPr>
            <a:picLocks noGrp="1" noChangeAspect="1"/>
          </p:cNvPicPr>
          <p:nvPr>
            <p:ph idx="1"/>
          </p:nvPr>
        </p:nvPicPr>
        <p:blipFill>
          <a:blip r:embed="rId2"/>
          <a:stretch>
            <a:fillRect/>
          </a:stretch>
        </p:blipFill>
        <p:spPr>
          <a:xfrm>
            <a:off x="0" y="0"/>
            <a:ext cx="9144000" cy="66367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46"/>
    </mc:Choice>
    <mc:Fallback>
      <p:transition spd="slow" advTm="3146"/>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FFFFFF"/>
                </a:solidFill>
              </a:rPr>
              <a:t>Relationships (Cardinality)</a:t>
            </a:r>
          </a:p>
        </p:txBody>
      </p:sp>
      <p:sp>
        <p:nvSpPr>
          <p:cNvPr id="3" name="Content Placeholder 2"/>
          <p:cNvSpPr>
            <a:spLocks noGrp="1"/>
          </p:cNvSpPr>
          <p:nvPr>
            <p:ph idx="1"/>
          </p:nvPr>
        </p:nvSpPr>
        <p:spPr/>
        <p:txBody>
          <a:bodyPr/>
          <a:lstStyle/>
          <a:p>
            <a:r>
              <a:rPr>
                <a:solidFill>
                  <a:srgbClr val="FFFFFF"/>
                </a:solidFill>
              </a:rPr>
              <a:t>Patient → Appointment (1:N)</a:t>
            </a:r>
          </a:p>
          <a:p>
            <a:r>
              <a:rPr>
                <a:solidFill>
                  <a:srgbClr val="FFFFFF"/>
                </a:solidFill>
              </a:rPr>
              <a:t>Doctor → Appointment (1:N)</a:t>
            </a:r>
          </a:p>
          <a:p>
            <a:r>
              <a:rPr>
                <a:solidFill>
                  <a:srgbClr val="FFFFFF"/>
                </a:solidFill>
              </a:rPr>
              <a:t>Department → Doctor (1:N)</a:t>
            </a:r>
          </a:p>
          <a:p>
            <a:r>
              <a:rPr>
                <a:solidFill>
                  <a:srgbClr val="FFFFFF"/>
                </a:solidFill>
              </a:rPr>
              <a:t>Patient → Medical Record (1:N)</a:t>
            </a:r>
          </a:p>
          <a:p>
            <a:r>
              <a:rPr>
                <a:solidFill>
                  <a:srgbClr val="FFFFFF"/>
                </a:solidFill>
              </a:rPr>
              <a:t>Medical Record → Prescription (1:N)</a:t>
            </a:r>
          </a:p>
          <a:p>
            <a:r>
              <a:rPr>
                <a:solidFill>
                  <a:srgbClr val="FFFFFF"/>
                </a:solidFill>
              </a:rPr>
              <a:t>Users ↔ Doctor (M:N via linking)</a:t>
            </a:r>
          </a:p>
        </p:txBody>
      </p:sp>
    </p:spTree>
  </p:cSld>
  <p:clrMapOvr>
    <a:masterClrMapping/>
  </p:clrMapOvr>
  <mc:AlternateContent xmlns:mc="http://schemas.openxmlformats.org/markup-compatibility/2006">
    <mc:Choice xmlns:p14="http://schemas.microsoft.com/office/powerpoint/2010/main" Requires="p14">
      <p:transition spd="slow" p14:dur="2000" advTm="1059"/>
    </mc:Choice>
    <mc:Fallback>
      <p:transition spd="slow" advTm="1059"/>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0193DA7-9BD1-4158-AA2C-FB057C4B6D60}"/>
              </a:ext>
            </a:extLst>
          </p:cNvPr>
          <p:cNvSpPr>
            <a:spLocks noGrp="1"/>
          </p:cNvSpPr>
          <p:nvPr>
            <p:ph type="body" idx="1"/>
          </p:nvPr>
        </p:nvSpPr>
        <p:spPr/>
        <p:txBody>
          <a:bodyPr/>
          <a:lstStyle/>
          <a:p>
            <a:r>
              <a:rPr lang="en-US" dirty="0"/>
              <a:t>Advantages</a:t>
            </a:r>
          </a:p>
        </p:txBody>
      </p:sp>
      <p:sp>
        <p:nvSpPr>
          <p:cNvPr id="3" name="Content Placeholder 2"/>
          <p:cNvSpPr>
            <a:spLocks noGrp="1"/>
          </p:cNvSpPr>
          <p:nvPr>
            <p:ph sz="half" idx="2"/>
          </p:nvPr>
        </p:nvSpPr>
        <p:spPr/>
        <p:txBody>
          <a:bodyPr/>
          <a:lstStyle/>
          <a:p>
            <a:r>
              <a:t>Fast data access</a:t>
            </a:r>
          </a:p>
          <a:p>
            <a:r>
              <a:t>Reduced errors</a:t>
            </a:r>
          </a:p>
          <a:p>
            <a:r>
              <a:t>Efficient management</a:t>
            </a:r>
          </a:p>
        </p:txBody>
      </p:sp>
      <p:sp>
        <p:nvSpPr>
          <p:cNvPr id="5" name="Text Placeholder 4">
            <a:extLst>
              <a:ext uri="{FF2B5EF4-FFF2-40B4-BE49-F238E27FC236}">
                <a16:creationId xmlns:a16="http://schemas.microsoft.com/office/drawing/2014/main" id="{3BD66675-85D3-814F-3B43-00F526F34700}"/>
              </a:ext>
            </a:extLst>
          </p:cNvPr>
          <p:cNvSpPr>
            <a:spLocks noGrp="1"/>
          </p:cNvSpPr>
          <p:nvPr>
            <p:ph type="body" sz="quarter" idx="3"/>
          </p:nvPr>
        </p:nvSpPr>
        <p:spPr/>
        <p:txBody>
          <a:bodyPr/>
          <a:lstStyle/>
          <a:p>
            <a:r>
              <a:rPr lang="en-US" dirty="0"/>
              <a:t>Limitations</a:t>
            </a:r>
          </a:p>
        </p:txBody>
      </p:sp>
      <p:sp>
        <p:nvSpPr>
          <p:cNvPr id="6" name="Content Placeholder 5">
            <a:extLst>
              <a:ext uri="{FF2B5EF4-FFF2-40B4-BE49-F238E27FC236}">
                <a16:creationId xmlns:a16="http://schemas.microsoft.com/office/drawing/2014/main" id="{C9977B98-E088-A5F8-8BC8-27A9FC1BAA9C}"/>
              </a:ext>
            </a:extLst>
          </p:cNvPr>
          <p:cNvSpPr>
            <a:spLocks noGrp="1"/>
          </p:cNvSpPr>
          <p:nvPr>
            <p:ph sz="quarter" idx="4"/>
          </p:nvPr>
        </p:nvSpPr>
        <p:spPr/>
        <p:txBody>
          <a:bodyPr/>
          <a:lstStyle/>
          <a:p>
            <a:r>
              <a:rPr lang="en-US" dirty="0"/>
              <a:t>Requires training</a:t>
            </a:r>
          </a:p>
          <a:p>
            <a:r>
              <a:rPr lang="en-US" dirty="0"/>
              <a:t>System dependency</a:t>
            </a:r>
          </a:p>
          <a:p>
            <a:r>
              <a:rPr lang="en-US" dirty="0"/>
              <a:t>Limited scope</a:t>
            </a:r>
          </a:p>
          <a:p>
            <a:endParaRPr lang="en-US" dirty="0"/>
          </a:p>
        </p:txBody>
      </p:sp>
    </p:spTree>
  </p:cSld>
  <p:clrMapOvr>
    <a:masterClrMapping/>
  </p:clrMapOvr>
  <mc:AlternateContent xmlns:mc="http://schemas.openxmlformats.org/markup-compatibility/2006">
    <mc:Choice xmlns:p14="http://schemas.microsoft.com/office/powerpoint/2010/main" Requires="p14">
      <p:transition spd="slow" p14:dur="2000" advTm="1532"/>
    </mc:Choice>
    <mc:Fallback>
      <p:transition spd="slow" advTm="153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Improves healthcare data management</a:t>
            </a:r>
          </a:p>
          <a:p>
            <a:r>
              <a:t>Enhances efficiency</a:t>
            </a:r>
          </a:p>
          <a:p>
            <a:r>
              <a:t>Future: mobile &amp; AI integration</a:t>
            </a:r>
          </a:p>
        </p:txBody>
      </p:sp>
    </p:spTree>
  </p:cSld>
  <p:clrMapOvr>
    <a:masterClrMapping/>
  </p:clrMapOvr>
  <mc:AlternateContent xmlns:mc="http://schemas.openxmlformats.org/markup-compatibility/2006">
    <mc:Choice xmlns:p14="http://schemas.microsoft.com/office/powerpoint/2010/main" Requires="p14">
      <p:transition spd="slow" p14:dur="2000" advTm="1014"/>
    </mc:Choice>
    <mc:Fallback>
      <p:transition spd="slow" advTm="1014"/>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130</TotalTime>
  <Words>232</Words>
  <Application>Microsoft Office PowerPoint</Application>
  <PresentationFormat>On-screen Show (4:3)</PresentationFormat>
  <Paragraphs>50</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Century Gothic</vt:lpstr>
      <vt:lpstr>Vapor Trail</vt:lpstr>
      <vt:lpstr>Patient Database System</vt:lpstr>
      <vt:lpstr>Introduction</vt:lpstr>
      <vt:lpstr>PowerPoint Presentation</vt:lpstr>
      <vt:lpstr>PowerPoint Presentation</vt:lpstr>
      <vt:lpstr>Work flow</vt:lpstr>
      <vt:lpstr>PowerPoint Presentation</vt:lpstr>
      <vt:lpstr>PowerPoint Presentation</vt:lpstr>
      <vt:lpstr>PowerPoint Presentation</vt:lpstr>
      <vt:lpstr>PowerPoint Presentation</vt:lpstr>
      <vt:lpstr>Relationships (Cardinality)</vt:lpstr>
      <vt:lpstr>PowerPoint Presentation</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namanya david mugizi</cp:lastModifiedBy>
  <cp:revision>3</cp:revision>
  <dcterms:created xsi:type="dcterms:W3CDTF">2013-01-27T09:14:16Z</dcterms:created>
  <dcterms:modified xsi:type="dcterms:W3CDTF">2026-05-06T13:48:03Z</dcterms:modified>
  <cp:category/>
</cp:coreProperties>
</file>